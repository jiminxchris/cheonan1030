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
표지의 인물 일러스트는 사용자가 첨부한 이미지를 투명 배경으로 가공하여 사용.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https://v.daum.net/v/20260102152949006
[/Sources]
청년인구: 197,572명(2025-05-31). 비율 29.9%, 전국 26.1%, 충남 23.7%. 정의 만18-39세.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https://v.daum.net/v/20260220130148922
- https://m.etnews.com/20250211000117
[/Sources]
2026 5대 분야 80개 사업 및 951억 원은 연간 계획 수치. 분야 명칭은 2025년 계획의 일자리·교육·주거·복지문화·참여권리 체계를 사용. 2026 세부 분야별 예산액은 확인되지 않아 표기하지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https://m.etnews.com/20250211000117
- https://v.daum.net/v/20260220130148922
[/Sources]
2025 계획: 937억 원, 88개. 2026 계획: 951억 원, 80개. 증감은 2026-2025로 계산한 값. 집행성과로 해석하지 않도록 주의.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https://gsyouth.or.kr/main/m119/view.do?display=10&amp;s_idx=19&amp;srchPolicyId=20260504005400213065
- https://v.daum.net/v/20260220130148922
[/Sources]
2026년 천안형 채용연계프로그램: 취업기술교육 약 50시간, 천안사랑카드 50만원 취업응원금, 지원규모 190명(계획). 조건/대상은 사업별 공고 확인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https://v.daum.net/v/20260220130148922
[/Sources]
2026 계획에 신부·쌍용 행복주택, 월세와 주거급여 지원, 1인 가구·자립준비청년·청년 마음돌봄이 포함된다고 보도. 정량 사업 실적 미확인으로 숫자 표기하지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https://v.daum.net/v/20260220130148922
[/Sources]
RISE, 유니브시티 페스티벌, 대학로 청년문화예술 활성화, 천안형 청년도전 프로젝트는 2026년 시행계획에 언급된 사업. 정량 성과 추정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https://www.newsis.com/view/NISX20250905_0003317080
[/Sources]
153은 2021년부터 2025-08 누적 취·창업(구직단념청년 대상), 22는 2025년 8월까지 새 일자리를 얻은 숫자. 211명은 2025년 청년도전지원사업 참여자, 108명 수료, 103명 참여 중. 누적과 당해연도 숫자를 단순 합산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https://cheonancouncil.go.kr/cms/mntsMbrSmplViewer.do?schMntsId=5052&amp;schVar08=MBR0074
[/Sources]
2026-10-26 천안시의회 임시회의록(최종교정 전)에 제기된 취업·주거 연계 필요성과 정책 접근성 논의를 참고. 이 슬라이드의 세 가지 개선 방향은 발표용 제안이며 천안시의 확정 시행계획이나 성과로 인용하면 안 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https://v.daum.net/v/20260220130148922
- https://v.daum.net/v/20260102152949006
[/Sources]
결론은 발표자의 정책 메시지이며 검증된 통계나 공적 성과 지표가 아님. 발표 작성기준 2026-10-30.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31"/>
          </a:solidFill>
          <a:ln w="7620">
            <a:solidFill>
              <a:srgbClr val="0C17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33488" y="73152"/>
            <a:ext cx="4773168" cy="4773168"/>
          </a:xfrm>
          <a:prstGeom prst="ellipse">
            <a:avLst/>
          </a:prstGeom>
          <a:solidFill>
            <a:srgbClr val="335CF4">
              <a:alpha val="35000"/>
            </a:srgbClr>
          </a:solidFill>
          <a:ln w="12700">
            <a:solidFill>
              <a:srgbClr val="335CF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73568" y="347472"/>
            <a:ext cx="4160520" cy="4160520"/>
          </a:xfrm>
          <a:prstGeom prst="ellipse">
            <a:avLst/>
          </a:prstGeom>
          <a:solidFill>
            <a:srgbClr val="2D4E9C">
              <a:alpha val="52000"/>
            </a:srgbClr>
          </a:solidFill>
          <a:ln w="12700">
            <a:solidFill>
              <a:srgbClr val="2D4E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29216" y="4398264"/>
            <a:ext cx="2212848" cy="2212848"/>
          </a:xfrm>
          <a:prstGeom prst="ellipse">
            <a:avLst/>
          </a:prstGeom>
          <a:solidFill>
            <a:srgbClr val="F3688D">
              <a:alpha val="75000"/>
            </a:srgbClr>
          </a:solidFill>
          <a:ln w="12700">
            <a:solidFill>
              <a:srgbClr val="F3688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82512" y="1005840"/>
            <a:ext cx="68580" cy="68580"/>
          </a:xfrm>
          <a:prstGeom prst="ellipse">
            <a:avLst/>
          </a:prstGeom>
          <a:solidFill>
            <a:srgbClr val="FFBD65"/>
          </a:solidFill>
          <a:ln w="12700">
            <a:solidFill>
              <a:srgbClr val="FFBD6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39128" y="1389888"/>
            <a:ext cx="68580" cy="68580"/>
          </a:xfrm>
          <a:prstGeom prst="ellipse">
            <a:avLst/>
          </a:prstGeom>
          <a:solidFill>
            <a:srgbClr val="FFBD65"/>
          </a:solidFill>
          <a:ln w="12700">
            <a:solidFill>
              <a:srgbClr val="FFBD6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95744" y="1005840"/>
            <a:ext cx="68580" cy="68580"/>
          </a:xfrm>
          <a:prstGeom prst="ellipse">
            <a:avLst/>
          </a:prstGeom>
          <a:solidFill>
            <a:srgbClr val="FFBD65"/>
          </a:solidFill>
          <a:ln w="12700">
            <a:solidFill>
              <a:srgbClr val="FFBD6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2360" y="1389888"/>
            <a:ext cx="68580" cy="68580"/>
          </a:xfrm>
          <a:prstGeom prst="ellipse">
            <a:avLst/>
          </a:prstGeom>
          <a:solidFill>
            <a:srgbClr val="FFBD65"/>
          </a:solidFill>
          <a:ln w="12700">
            <a:solidFill>
              <a:srgbClr val="FFBD6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08976" y="1005840"/>
            <a:ext cx="68580" cy="68580"/>
          </a:xfrm>
          <a:prstGeom prst="ellipse">
            <a:avLst/>
          </a:prstGeom>
          <a:solidFill>
            <a:srgbClr val="FFBD65"/>
          </a:solidFill>
          <a:ln w="12700">
            <a:solidFill>
              <a:srgbClr val="FFBD6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576072"/>
            <a:ext cx="2432304" cy="265176"/>
          </a:xfrm>
          <a:prstGeom prst="roundRect">
            <a:avLst>
              <a:gd name="adj" fmla="val 48276"/>
            </a:avLst>
          </a:prstGeom>
          <a:solidFill>
            <a:srgbClr val="283A68"/>
          </a:solidFill>
          <a:ln w="7620">
            <a:solidFill>
              <a:srgbClr val="283A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587045"/>
            <a:ext cx="2267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DAE6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CHEONAN CITY  /  2026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658368" y="1426464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청년이 머무는 도시,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58368" y="231343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9CD6F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기회가 자라는 천안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676656" y="34015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천안시 청년정책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" y="399592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C5D8F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현황  ·  주요 사업  ·  정책 성과  ·  발전 방향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58368" y="4892040"/>
            <a:ext cx="4251960" cy="621792"/>
          </a:xfrm>
          <a:prstGeom prst="roundRect">
            <a:avLst>
              <a:gd name="adj" fmla="val 30882"/>
            </a:avLst>
          </a:prstGeom>
          <a:solidFill>
            <a:srgbClr val="253659"/>
          </a:solidFill>
          <a:ln w="7620">
            <a:solidFill>
              <a:srgbClr val="25365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503834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2026. 10. 30.   |   정책자료 기반 브리핑</a:t>
            </a:r>
            <a:endParaRPr lang="en-US" sz="1260" dirty="0"/>
          </a:p>
        </p:txBody>
      </p:sp>
      <p:pic>
        <p:nvPicPr>
          <p:cNvPr id="19" name="Image 0" descr="/mnt/data/cheonan_deck/assets/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672" y="1444752"/>
            <a:ext cx="5486400" cy="41148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717536" y="59710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40" b="1" spc="200" kern="0" dirty="0">
                <a:solidFill>
                  <a:srgbClr val="B8C7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YOUTH  ×  CHEONAN</a:t>
            </a:r>
            <a:endParaRPr lang="en-US" sz="12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11880" cy="6858000"/>
          </a:xfrm>
          <a:prstGeom prst="rect">
            <a:avLst/>
          </a:prstGeom>
          <a:solidFill>
            <a:srgbClr val="12203E"/>
          </a:solidFill>
          <a:ln w="7620">
            <a:solidFill>
              <a:srgbClr val="12203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11880" y="0"/>
            <a:ext cx="8579815" cy="6858000"/>
          </a:xfrm>
          <a:prstGeom prst="rect">
            <a:avLst/>
          </a:prstGeom>
          <a:solidFill>
            <a:srgbClr val="F6F9FF"/>
          </a:solidFill>
          <a:ln w="7620">
            <a:solidFill>
              <a:srgbClr val="F6F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502920"/>
            <a:ext cx="1417320" cy="265176"/>
          </a:xfrm>
          <a:prstGeom prst="roundRect">
            <a:avLst>
              <a:gd name="adj" fmla="val 48276"/>
            </a:avLst>
          </a:prstGeom>
          <a:solidFill>
            <a:srgbClr val="30456D"/>
          </a:solidFill>
          <a:ln w="7620">
            <a:solidFill>
              <a:srgbClr val="30456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513893"/>
            <a:ext cx="1252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 INSIGHT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430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청년이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많은 도시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76072" y="298094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8BEA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19만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621792" y="37307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7,572명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12648" y="4572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9DA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18~39세 천안시 청년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51376" y="493776"/>
            <a:ext cx="1874520" cy="265176"/>
          </a:xfrm>
          <a:prstGeom prst="roundRect">
            <a:avLst>
              <a:gd name="adj" fmla="val 48276"/>
            </a:avLst>
          </a:prstGeom>
          <a:solidFill>
            <a:srgbClr val="DCEBFF"/>
          </a:solidFill>
          <a:ln w="762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33672" y="504749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5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2025. 05. 31. 기준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69664" y="9601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청년 인구 비율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133088" y="1673352"/>
            <a:ext cx="3246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0" b="1" dirty="0">
                <a:solidFill>
                  <a:srgbClr val="335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29.9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7178040" y="200253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335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%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8229600" y="187452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10명 중 약 3명이 청년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187952" y="3127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천안시</a:t>
            </a:r>
            <a:endParaRPr lang="en-US" sz="1270" dirty="0"/>
          </a:p>
        </p:txBody>
      </p:sp>
      <p:sp>
        <p:nvSpPr>
          <p:cNvPr id="17" name="Shape 15"/>
          <p:cNvSpPr/>
          <p:nvPr/>
        </p:nvSpPr>
        <p:spPr>
          <a:xfrm>
            <a:off x="5413248" y="3182112"/>
            <a:ext cx="4873752" cy="173736"/>
          </a:xfrm>
          <a:prstGeom prst="roundRect">
            <a:avLst>
              <a:gd name="adj" fmla="val 52632"/>
            </a:avLst>
          </a:prstGeom>
          <a:solidFill>
            <a:srgbClr val="E3E9F3"/>
          </a:solidFill>
          <a:ln w="7620">
            <a:solidFill>
              <a:srgbClr val="E3E9F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13248" y="3182112"/>
            <a:ext cx="4163577" cy="173736"/>
          </a:xfrm>
          <a:prstGeom prst="roundRect">
            <a:avLst>
              <a:gd name="adj" fmla="val 52632"/>
            </a:avLst>
          </a:prstGeom>
          <a:solidFill>
            <a:srgbClr val="335CF4"/>
          </a:solidFill>
          <a:ln w="7620">
            <a:solidFill>
              <a:srgbClr val="335CF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69880" y="30998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35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29.9%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187952" y="3913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전국</a:t>
            </a:r>
            <a:endParaRPr lang="en-US" sz="1270" dirty="0"/>
          </a:p>
        </p:txBody>
      </p:sp>
      <p:sp>
        <p:nvSpPr>
          <p:cNvPr id="21" name="Shape 19"/>
          <p:cNvSpPr/>
          <p:nvPr/>
        </p:nvSpPr>
        <p:spPr>
          <a:xfrm>
            <a:off x="5413248" y="3968496"/>
            <a:ext cx="4873752" cy="173736"/>
          </a:xfrm>
          <a:prstGeom prst="roundRect">
            <a:avLst>
              <a:gd name="adj" fmla="val 52632"/>
            </a:avLst>
          </a:prstGeom>
          <a:solidFill>
            <a:srgbClr val="E3E9F3"/>
          </a:solidFill>
          <a:ln w="7620">
            <a:solidFill>
              <a:srgbClr val="E3E9F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13248" y="3968496"/>
            <a:ext cx="3634426" cy="173736"/>
          </a:xfrm>
          <a:prstGeom prst="roundRect">
            <a:avLst>
              <a:gd name="adj" fmla="val 52632"/>
            </a:avLst>
          </a:prstGeom>
          <a:solidFill>
            <a:srgbClr val="AAB8D7"/>
          </a:solidFill>
          <a:ln w="7620">
            <a:solidFill>
              <a:srgbClr val="AAB8D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69880" y="38862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26.1%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187952" y="47000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충청남도</a:t>
            </a:r>
            <a:endParaRPr lang="en-US" sz="1270" dirty="0"/>
          </a:p>
        </p:txBody>
      </p:sp>
      <p:sp>
        <p:nvSpPr>
          <p:cNvPr id="25" name="Shape 23"/>
          <p:cNvSpPr/>
          <p:nvPr/>
        </p:nvSpPr>
        <p:spPr>
          <a:xfrm>
            <a:off x="5413248" y="4754880"/>
            <a:ext cx="4873752" cy="173736"/>
          </a:xfrm>
          <a:prstGeom prst="roundRect">
            <a:avLst>
              <a:gd name="adj" fmla="val 52632"/>
            </a:avLst>
          </a:prstGeom>
          <a:solidFill>
            <a:srgbClr val="E3E9F3"/>
          </a:solidFill>
          <a:ln w="7620">
            <a:solidFill>
              <a:srgbClr val="E3E9F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13248" y="4754880"/>
            <a:ext cx="3300226" cy="173736"/>
          </a:xfrm>
          <a:prstGeom prst="roundRect">
            <a:avLst>
              <a:gd name="adj" fmla="val 52632"/>
            </a:avLst>
          </a:prstGeom>
          <a:solidFill>
            <a:srgbClr val="B6C5D9"/>
          </a:solidFill>
          <a:ln w="7620">
            <a:solidFill>
              <a:srgbClr val="B6C5D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69880" y="46725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23.7%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4123944" y="5660136"/>
            <a:ext cx="7278624" cy="512064"/>
          </a:xfrm>
          <a:prstGeom prst="roundRect">
            <a:avLst>
              <a:gd name="adj" fmla="val 28571"/>
            </a:avLst>
          </a:prstGeom>
          <a:solidFill>
            <a:srgbClr val="E9EFFA"/>
          </a:solidFill>
          <a:ln w="7620">
            <a:solidFill>
              <a:srgbClr val="E9EFF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25112" y="5760720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천안 29.9%   &gt;   전국 26.1%   &gt;   충남 23.7%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0352" y="6519672"/>
            <a:ext cx="11155680" cy="0"/>
          </a:xfrm>
          <a:prstGeom prst="line">
            <a:avLst/>
          </a:prstGeom>
          <a:noFill/>
          <a:ln w="8255">
            <a:solidFill>
              <a:srgbClr val="E7EDF5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585216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CHEONAN  |  YOUTH POLICY 2026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4572000" y="6547104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자료: 천안시 2025 청년통계 발표(2026.01.02 보도)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11384280" y="65288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9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spc="100" kern="0" dirty="0">
                <a:solidFill>
                  <a:srgbClr val="335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 POLICY FRAMEWORK</a:t>
            </a:r>
            <a:endParaRPr lang="en-US" sz="1030" dirty="0"/>
          </a:p>
        </p:txBody>
      </p:sp>
      <p:sp>
        <p:nvSpPr>
          <p:cNvPr id="3" name="Text 1"/>
          <p:cNvSpPr/>
          <p:nvPr/>
        </p:nvSpPr>
        <p:spPr>
          <a:xfrm>
            <a:off x="603504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정책 지도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성장·자립·정착·참여를 잇는 5대 분야 정책 체계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76072" y="2029968"/>
            <a:ext cx="5257800" cy="1481328"/>
          </a:xfrm>
          <a:prstGeom prst="roundRect">
            <a:avLst>
              <a:gd name="adj" fmla="val 13580"/>
            </a:avLst>
          </a:prstGeom>
          <a:solidFill>
            <a:srgbClr val="12203E"/>
          </a:solidFill>
          <a:ln w="7620">
            <a:solidFill>
              <a:srgbClr val="12203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ED9E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 정책 규모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1518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951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816352" y="27797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6D6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억 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53328" y="2029968"/>
            <a:ext cx="5550408" cy="1481328"/>
          </a:xfrm>
          <a:prstGeom prst="roundRect">
            <a:avLst>
              <a:gd name="adj" fmla="val 13580"/>
            </a:avLst>
          </a:prstGeom>
          <a:solidFill>
            <a:srgbClr val="EBF3FF"/>
          </a:solidFill>
          <a:ln w="7620">
            <a:solidFill>
              <a:srgbClr val="EBF3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267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5대 분야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2651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335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</a:t>
            </a:r>
            <a:endParaRPr lang="en-US" sz="4300" dirty="0"/>
          </a:p>
        </p:txBody>
      </p:sp>
      <p:sp>
        <p:nvSpPr>
          <p:cNvPr id="12" name="Text 10"/>
          <p:cNvSpPr/>
          <p:nvPr/>
        </p:nvSpPr>
        <p:spPr>
          <a:xfrm>
            <a:off x="7882128" y="2871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 사업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05288" y="2450592"/>
            <a:ext cx="667512" cy="66751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5216" y="3840480"/>
            <a:ext cx="2121408" cy="1490472"/>
          </a:xfrm>
          <a:prstGeom prst="roundRect">
            <a:avLst>
              <a:gd name="adj" fmla="val 9816"/>
            </a:avLst>
          </a:prstGeom>
          <a:solidFill>
            <a:srgbClr val="F5F8FE"/>
          </a:solidFill>
          <a:ln w="7620">
            <a:solidFill>
              <a:srgbClr val="E7ED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07592" y="4023360"/>
            <a:ext cx="649224" cy="649224"/>
          </a:xfrm>
          <a:prstGeom prst="ellipse">
            <a:avLst/>
          </a:prstGeom>
          <a:solidFill>
            <a:srgbClr val="335CF4"/>
          </a:solidFill>
          <a:ln w="12700">
            <a:solidFill>
              <a:srgbClr val="335CF4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6756" y="418795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" y="48188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일자리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2898648" y="3840480"/>
            <a:ext cx="2121408" cy="1490472"/>
          </a:xfrm>
          <a:prstGeom prst="roundRect">
            <a:avLst>
              <a:gd name="adj" fmla="val 9816"/>
            </a:avLst>
          </a:prstGeom>
          <a:solidFill>
            <a:srgbClr val="F9FAFE"/>
          </a:solidFill>
          <a:ln w="7620">
            <a:solidFill>
              <a:srgbClr val="E7EDF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21024" y="4023360"/>
            <a:ext cx="649224" cy="649224"/>
          </a:xfrm>
          <a:prstGeom prst="ellipse">
            <a:avLst/>
          </a:prstGeom>
          <a:solidFill>
            <a:srgbClr val="AB91F9"/>
          </a:solidFill>
          <a:ln w="12700">
            <a:solidFill>
              <a:srgbClr val="AB91F9">
                <a:alpha val="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90188" y="418795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044952" y="48188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교육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212080" y="3840480"/>
            <a:ext cx="2121408" cy="1490472"/>
          </a:xfrm>
          <a:prstGeom prst="roundRect">
            <a:avLst>
              <a:gd name="adj" fmla="val 9816"/>
            </a:avLst>
          </a:prstGeom>
          <a:solidFill>
            <a:srgbClr val="F5F8FE"/>
          </a:solidFill>
          <a:ln w="7620">
            <a:solidFill>
              <a:srgbClr val="E7EDF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934456" y="4023360"/>
            <a:ext cx="649224" cy="649224"/>
          </a:xfrm>
          <a:prstGeom prst="ellipse">
            <a:avLst/>
          </a:prstGeom>
          <a:solidFill>
            <a:srgbClr val="F3688D"/>
          </a:solidFill>
          <a:ln w="12700">
            <a:solidFill>
              <a:srgbClr val="F3688D">
                <a:alpha val="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03620" y="4187952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58384" y="48188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주거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7525512" y="3840480"/>
            <a:ext cx="2121408" cy="1490472"/>
          </a:xfrm>
          <a:prstGeom prst="roundRect">
            <a:avLst>
              <a:gd name="adj" fmla="val 9816"/>
            </a:avLst>
          </a:prstGeom>
          <a:solidFill>
            <a:srgbClr val="F9FAFE"/>
          </a:solidFill>
          <a:ln w="7620">
            <a:solidFill>
              <a:srgbClr val="E7EDF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247888" y="4023360"/>
            <a:ext cx="649224" cy="649224"/>
          </a:xfrm>
          <a:prstGeom prst="ellipse">
            <a:avLst/>
          </a:prstGeom>
          <a:solidFill>
            <a:srgbClr val="1DB79D"/>
          </a:solidFill>
          <a:ln w="12700">
            <a:solidFill>
              <a:srgbClr val="1DB79D">
                <a:alpha val="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7052" y="4187952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671816" y="48188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복지·문화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9838944" y="3840480"/>
            <a:ext cx="2121408" cy="1490472"/>
          </a:xfrm>
          <a:prstGeom prst="roundRect">
            <a:avLst>
              <a:gd name="adj" fmla="val 9816"/>
            </a:avLst>
          </a:prstGeom>
          <a:solidFill>
            <a:srgbClr val="F5F8FE"/>
          </a:solidFill>
          <a:ln w="7620">
            <a:solidFill>
              <a:srgbClr val="E7EDF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10561320" y="4023360"/>
            <a:ext cx="649224" cy="649224"/>
          </a:xfrm>
          <a:prstGeom prst="ellipse">
            <a:avLst/>
          </a:prstGeom>
          <a:solidFill>
            <a:srgbClr val="E9A637"/>
          </a:solidFill>
          <a:ln w="12700">
            <a:solidFill>
              <a:srgbClr val="E9A637">
                <a:alpha val="0"/>
              </a:srgbClr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30484" y="4187952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985248" y="48188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참여·권리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685800" y="58795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2026년 청년정책위원회 정기총회 확정 시행계획 기준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30352" y="6519672"/>
            <a:ext cx="11155680" cy="0"/>
          </a:xfrm>
          <a:prstGeom prst="line">
            <a:avLst/>
          </a:prstGeom>
          <a:noFill/>
          <a:ln w="8255">
            <a:solidFill>
              <a:srgbClr val="E7EDF5"/>
            </a:solidFill>
            <a:prstDash val="solid"/>
            <a:headEnd type="none"/>
            <a:tailEnd type="none"/>
          </a:ln>
        </p:spPr>
      </p:sp>
      <p:sp>
        <p:nvSpPr>
          <p:cNvPr id="36" name="Text 28"/>
          <p:cNvSpPr/>
          <p:nvPr/>
        </p:nvSpPr>
        <p:spPr>
          <a:xfrm>
            <a:off x="585216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CHEONAN  |  YOUTH POLICY 2026</a:t>
            </a:r>
            <a:endParaRPr lang="en-US" sz="770" dirty="0"/>
          </a:p>
        </p:txBody>
      </p:sp>
      <p:sp>
        <p:nvSpPr>
          <p:cNvPr id="37" name="Text 29"/>
          <p:cNvSpPr/>
          <p:nvPr/>
        </p:nvSpPr>
        <p:spPr>
          <a:xfrm>
            <a:off x="4572000" y="6547104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자료: 천안시 청년정책위원회(2026.02.20)</a:t>
            </a:r>
            <a:endParaRPr lang="en-US" sz="740" dirty="0"/>
          </a:p>
        </p:txBody>
      </p:sp>
      <p:sp>
        <p:nvSpPr>
          <p:cNvPr id="38" name="Text 30"/>
          <p:cNvSpPr/>
          <p:nvPr/>
        </p:nvSpPr>
        <p:spPr>
          <a:xfrm>
            <a:off x="11384280" y="65288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9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spc="100" kern="0" dirty="0">
                <a:solidFill>
                  <a:srgbClr val="335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 RESOURCE SHIFT</a:t>
            </a:r>
            <a:endParaRPr lang="en-US" sz="1030" dirty="0"/>
          </a:p>
        </p:txBody>
      </p:sp>
      <p:sp>
        <p:nvSpPr>
          <p:cNvPr id="3" name="Text 1"/>
          <p:cNvSpPr/>
          <p:nvPr/>
        </p:nvSpPr>
        <p:spPr>
          <a:xfrm>
            <a:off x="603504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 투자, 더 정교하게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연간 시행계획 비교  |  예산 확대와 사업 포트폴리오 조정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621792" y="1938528"/>
            <a:ext cx="7114032" cy="3941064"/>
          </a:xfrm>
          <a:prstGeom prst="roundRect">
            <a:avLst>
              <a:gd name="adj" fmla="val 6032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212848"/>
            <a:ext cx="1463040" cy="265176"/>
          </a:xfrm>
          <a:prstGeom prst="roundRect">
            <a:avLst>
              <a:gd name="adj" fmla="val 48276"/>
            </a:avLst>
          </a:prstGeom>
          <a:solidFill>
            <a:srgbClr val="E8EEFF"/>
          </a:solidFill>
          <a:ln w="762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223821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5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계획예산 비교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55080" y="2221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단위: 억 원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978408" y="29169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29968" y="2926080"/>
            <a:ext cx="4681728" cy="475488"/>
          </a:xfrm>
          <a:prstGeom prst="roundRect">
            <a:avLst>
              <a:gd name="adj" fmla="val 30769"/>
            </a:avLst>
          </a:prstGeom>
          <a:solidFill>
            <a:srgbClr val="EDF1F8"/>
          </a:solidFill>
          <a:ln w="7620">
            <a:solidFill>
              <a:srgbClr val="EDF1F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9968" y="2926080"/>
            <a:ext cx="4386779" cy="475488"/>
          </a:xfrm>
          <a:prstGeom prst="roundRect">
            <a:avLst>
              <a:gd name="adj" fmla="val 30769"/>
            </a:avLst>
          </a:prstGeom>
          <a:solidFill>
            <a:srgbClr val="9DB2D9"/>
          </a:solidFill>
          <a:ln w="7620">
            <a:solidFill>
              <a:srgbClr val="9DB2D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852928"/>
            <a:ext cx="722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937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78408" y="4142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29968" y="4151376"/>
            <a:ext cx="4681728" cy="475488"/>
          </a:xfrm>
          <a:prstGeom prst="roundRect">
            <a:avLst>
              <a:gd name="adj" fmla="val 30769"/>
            </a:avLst>
          </a:prstGeom>
          <a:solidFill>
            <a:srgbClr val="EDF1F8"/>
          </a:solidFill>
          <a:ln w="7620">
            <a:solidFill>
              <a:srgbClr val="EDF1F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9968" y="4151376"/>
            <a:ext cx="4452323" cy="475488"/>
          </a:xfrm>
          <a:prstGeom prst="roundRect">
            <a:avLst>
              <a:gd name="adj" fmla="val 30769"/>
            </a:avLst>
          </a:prstGeom>
          <a:solidFill>
            <a:srgbClr val="335CF4"/>
          </a:solidFill>
          <a:ln w="7620">
            <a:solidFill>
              <a:srgbClr val="335CF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4078224"/>
            <a:ext cx="722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335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951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8001000" y="1938528"/>
            <a:ext cx="3557016" cy="1901952"/>
          </a:xfrm>
          <a:prstGeom prst="roundRect">
            <a:avLst>
              <a:gd name="adj" fmla="val 12981"/>
            </a:avLst>
          </a:prstGeom>
          <a:solidFill>
            <a:srgbClr val="12203E"/>
          </a:solidFill>
          <a:ln w="7620">
            <a:solidFill>
              <a:srgbClr val="12203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22219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6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사업 수 · 시행계획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38744" y="2788920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88 → 80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302752" y="34655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BED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2025년        2026년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01000" y="3995928"/>
            <a:ext cx="3557016" cy="1883664"/>
          </a:xfrm>
          <a:prstGeom prst="roundRect">
            <a:avLst>
              <a:gd name="adj" fmla="val 13107"/>
            </a:avLst>
          </a:prstGeom>
          <a:solidFill>
            <a:srgbClr val="E5F8F3"/>
          </a:solidFill>
          <a:ln w="7620">
            <a:solidFill>
              <a:srgbClr val="E5F8F3">
                <a:alpha val="0"/>
              </a:srgbClr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84464" y="4315968"/>
            <a:ext cx="512064" cy="51206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284464" y="492861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C866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 +14억 원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8293608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2025년 대비 약 +1.5%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04672" y="6117336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사업 수와 예산은 각 연도 시행계획 값으로, 집행액·실제 성과와 다름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30352" y="6519672"/>
            <a:ext cx="11155680" cy="0"/>
          </a:xfrm>
          <a:prstGeom prst="line">
            <a:avLst/>
          </a:prstGeom>
          <a:noFill/>
          <a:ln w="8255">
            <a:solidFill>
              <a:srgbClr val="E7EDF5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/>
          <p:nvPr/>
        </p:nvSpPr>
        <p:spPr>
          <a:xfrm>
            <a:off x="585216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CHEONAN  |  YOUTH POLICY 2026</a:t>
            </a:r>
            <a:endParaRPr lang="en-US" sz="770" dirty="0"/>
          </a:p>
        </p:txBody>
      </p:sp>
      <p:sp>
        <p:nvSpPr>
          <p:cNvPr id="28" name="Text 25"/>
          <p:cNvSpPr/>
          <p:nvPr/>
        </p:nvSpPr>
        <p:spPr>
          <a:xfrm>
            <a:off x="4572000" y="6547104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자료: 2025·2026년 청년정책위원회 발표</a:t>
            </a:r>
            <a:endParaRPr lang="en-US" sz="740" dirty="0"/>
          </a:p>
        </p:txBody>
      </p:sp>
      <p:sp>
        <p:nvSpPr>
          <p:cNvPr id="29" name="Text 26"/>
          <p:cNvSpPr/>
          <p:nvPr/>
        </p:nvSpPr>
        <p:spPr>
          <a:xfrm>
            <a:off x="11384280" y="65288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9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spc="100" kern="0" dirty="0">
                <a:solidFill>
                  <a:srgbClr val="335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 CAREER &amp; STARTUP</a:t>
            </a:r>
            <a:endParaRPr lang="en-US" sz="1030" dirty="0"/>
          </a:p>
        </p:txBody>
      </p:sp>
      <p:sp>
        <p:nvSpPr>
          <p:cNvPr id="3" name="Text 1"/>
          <p:cNvSpPr/>
          <p:nvPr/>
        </p:nvSpPr>
        <p:spPr>
          <a:xfrm>
            <a:off x="603504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기회부터 지역 정착까지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취업 역량·기업 연결·창업 생태계를 하나의 흐름으로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612648" y="1965960"/>
            <a:ext cx="2697480" cy="1389888"/>
          </a:xfrm>
          <a:prstGeom prst="roundRect">
            <a:avLst>
              <a:gd name="adj" fmla="val 11842"/>
            </a:avLst>
          </a:prstGeom>
          <a:solidFill>
            <a:srgbClr val="F4F7FC"/>
          </a:solidFill>
          <a:ln w="7620">
            <a:solidFill>
              <a:srgbClr val="F4F7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48840"/>
            <a:ext cx="539496" cy="539496"/>
          </a:xfrm>
          <a:prstGeom prst="ellipse">
            <a:avLst/>
          </a:prstGeom>
          <a:solidFill>
            <a:srgbClr val="BFCDE7"/>
          </a:solidFill>
          <a:ln w="12700">
            <a:solidFill>
              <a:srgbClr val="BFCDE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228600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231136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진로 탐색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44168" y="2642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청년도전·상담</a:t>
            </a:r>
            <a:endParaRPr lang="en-US" sz="108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73552" y="2450592"/>
            <a:ext cx="292608" cy="2926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502152" y="1965960"/>
            <a:ext cx="2697480" cy="1389888"/>
          </a:xfrm>
          <a:prstGeom prst="roundRect">
            <a:avLst>
              <a:gd name="adj" fmla="val 11842"/>
            </a:avLst>
          </a:prstGeom>
          <a:solidFill>
            <a:srgbClr val="F4F7FC"/>
          </a:solidFill>
          <a:ln w="7620">
            <a:solidFill>
              <a:srgbClr val="F4F7FC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39312" y="2148840"/>
            <a:ext cx="539496" cy="539496"/>
          </a:xfrm>
          <a:prstGeom prst="ellipse">
            <a:avLst/>
          </a:prstGeom>
          <a:solidFill>
            <a:srgbClr val="BFCDE7"/>
          </a:solidFill>
          <a:ln w="12700">
            <a:solidFill>
              <a:srgbClr val="BFCDE7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03320" y="228600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261104" y="2231136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역량 강화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233672" y="2642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맞춤형 취업교육</a:t>
            </a:r>
            <a:endParaRPr lang="en-US" sz="108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3056" y="2450592"/>
            <a:ext cx="292608" cy="29260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391656" y="1965960"/>
            <a:ext cx="2697480" cy="1389888"/>
          </a:xfrm>
          <a:prstGeom prst="roundRect">
            <a:avLst>
              <a:gd name="adj" fmla="val 11842"/>
            </a:avLst>
          </a:prstGeom>
          <a:solidFill>
            <a:srgbClr val="E5ECFF"/>
          </a:solidFill>
          <a:ln w="7620">
            <a:solidFill>
              <a:srgbClr val="E5ECFF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28816" y="2148840"/>
            <a:ext cx="539496" cy="539496"/>
          </a:xfrm>
          <a:prstGeom prst="ellipse">
            <a:avLst/>
          </a:prstGeom>
          <a:solidFill>
            <a:srgbClr val="335CF4"/>
          </a:solidFill>
          <a:ln w="12700">
            <a:solidFill>
              <a:srgbClr val="335CF4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92824" y="228600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150608" y="2231136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 연결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123176" y="2642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기업설명회·면접</a:t>
            </a:r>
            <a:endParaRPr lang="en-US" sz="108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52560" y="2450592"/>
            <a:ext cx="292608" cy="29260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281160" y="1965960"/>
            <a:ext cx="2697480" cy="1389888"/>
          </a:xfrm>
          <a:prstGeom prst="roundRect">
            <a:avLst>
              <a:gd name="adj" fmla="val 11842"/>
            </a:avLst>
          </a:prstGeom>
          <a:solidFill>
            <a:srgbClr val="F4F7FC"/>
          </a:solidFill>
          <a:ln w="7620">
            <a:solidFill>
              <a:srgbClr val="F4F7FC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418320" y="2148840"/>
            <a:ext cx="539496" cy="539496"/>
          </a:xfrm>
          <a:prstGeom prst="ellipse">
            <a:avLst/>
          </a:prstGeom>
          <a:solidFill>
            <a:srgbClr val="BFCDE7"/>
          </a:solidFill>
          <a:ln w="12700">
            <a:solidFill>
              <a:srgbClr val="BFCDE7">
                <a:alpha val="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482328" y="228600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0040112" y="2231136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 안착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10012680" y="2642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취업응원·초기 적응</a:t>
            </a:r>
            <a:endParaRPr lang="en-US" sz="1080" dirty="0"/>
          </a:p>
        </p:txBody>
      </p:sp>
      <p:sp>
        <p:nvSpPr>
          <p:cNvPr id="28" name="Shape 23"/>
          <p:cNvSpPr/>
          <p:nvPr/>
        </p:nvSpPr>
        <p:spPr>
          <a:xfrm>
            <a:off x="630936" y="3739896"/>
            <a:ext cx="7379208" cy="2148840"/>
          </a:xfrm>
          <a:prstGeom prst="roundRect">
            <a:avLst>
              <a:gd name="adj" fmla="val 9787"/>
            </a:avLst>
          </a:prstGeom>
          <a:solidFill>
            <a:srgbClr val="12203E"/>
          </a:solidFill>
          <a:ln w="7620">
            <a:solidFill>
              <a:srgbClr val="12203E">
                <a:alpha val="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914400" y="3986784"/>
            <a:ext cx="6583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천안형 채용연계 프로그램  |  2026년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932688" y="4617720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9FD5F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 50시간</a:t>
            </a:r>
            <a:endParaRPr lang="en-US" sz="2300" dirty="0"/>
          </a:p>
        </p:txBody>
      </p:sp>
      <p:sp>
        <p:nvSpPr>
          <p:cNvPr id="31" name="Text 26"/>
          <p:cNvSpPr/>
          <p:nvPr/>
        </p:nvSpPr>
        <p:spPr>
          <a:xfrm>
            <a:off x="932688" y="517550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CD8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취업기술 교육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3291840" y="4617720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B9C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50만 원</a:t>
            </a:r>
            <a:endParaRPr lang="en-US" sz="2300" dirty="0"/>
          </a:p>
        </p:txBody>
      </p:sp>
      <p:sp>
        <p:nvSpPr>
          <p:cNvPr id="33" name="Text 28"/>
          <p:cNvSpPr/>
          <p:nvPr/>
        </p:nvSpPr>
        <p:spPr>
          <a:xfrm>
            <a:off x="3291840" y="517550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CD8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취업응원금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5650992" y="4617720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9FD5F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190명</a:t>
            </a:r>
            <a:endParaRPr lang="en-US" sz="2300" dirty="0"/>
          </a:p>
        </p:txBody>
      </p:sp>
      <p:sp>
        <p:nvSpPr>
          <p:cNvPr id="35" name="Text 30"/>
          <p:cNvSpPr/>
          <p:nvPr/>
        </p:nvSpPr>
        <p:spPr>
          <a:xfrm>
            <a:off x="5650992" y="517550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CD8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지원 규모(계획)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8238744" y="3739896"/>
            <a:ext cx="3300984" cy="2148840"/>
          </a:xfrm>
          <a:prstGeom prst="roundRect">
            <a:avLst>
              <a:gd name="adj" fmla="val 9787"/>
            </a:avLst>
          </a:prstGeom>
          <a:solidFill>
            <a:srgbClr val="E2F8F4"/>
          </a:solidFill>
          <a:ln w="7620">
            <a:solidFill>
              <a:srgbClr val="E2F8F4">
                <a:alpha val="0"/>
              </a:srgbClr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95360" y="4069080"/>
            <a:ext cx="685800" cy="6858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595360" y="48280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7C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창업 생태계</a:t>
            </a:r>
            <a:endParaRPr lang="en-US" sz="1800" dirty="0"/>
          </a:p>
        </p:txBody>
      </p:sp>
      <p:sp>
        <p:nvSpPr>
          <p:cNvPr id="39" name="Text 33"/>
          <p:cNvSpPr/>
          <p:nvPr/>
        </p:nvSpPr>
        <p:spPr>
          <a:xfrm>
            <a:off x="8595360" y="5321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그린스타트업타운 · 청년농업</a:t>
            </a:r>
            <a:endParaRPr lang="en-US" sz="1080" dirty="0"/>
          </a:p>
        </p:txBody>
      </p:sp>
      <p:sp>
        <p:nvSpPr>
          <p:cNvPr id="40" name="Shape 34"/>
          <p:cNvSpPr/>
          <p:nvPr/>
        </p:nvSpPr>
        <p:spPr>
          <a:xfrm>
            <a:off x="530352" y="6519672"/>
            <a:ext cx="11155680" cy="0"/>
          </a:xfrm>
          <a:prstGeom prst="line">
            <a:avLst/>
          </a:prstGeom>
          <a:noFill/>
          <a:ln w="8255">
            <a:solidFill>
              <a:srgbClr val="E7EDF5"/>
            </a:solidFill>
            <a:prstDash val="solid"/>
            <a:headEnd type="none"/>
            <a:tailEnd type="none"/>
          </a:ln>
        </p:spPr>
      </p:sp>
      <p:sp>
        <p:nvSpPr>
          <p:cNvPr id="41" name="Text 35"/>
          <p:cNvSpPr/>
          <p:nvPr/>
        </p:nvSpPr>
        <p:spPr>
          <a:xfrm>
            <a:off x="585216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CHEONAN  |  YOUTH POLICY 2026</a:t>
            </a:r>
            <a:endParaRPr lang="en-US" sz="770" dirty="0"/>
          </a:p>
        </p:txBody>
      </p:sp>
      <p:sp>
        <p:nvSpPr>
          <p:cNvPr id="42" name="Text 36"/>
          <p:cNvSpPr/>
          <p:nvPr/>
        </p:nvSpPr>
        <p:spPr>
          <a:xfrm>
            <a:off x="4572000" y="6547104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자료: 온통청년 정책정보 · 2026 시행계획</a:t>
            </a:r>
            <a:endParaRPr lang="en-US" sz="740" dirty="0"/>
          </a:p>
        </p:txBody>
      </p:sp>
      <p:sp>
        <p:nvSpPr>
          <p:cNvPr id="43" name="Text 37"/>
          <p:cNvSpPr/>
          <p:nvPr/>
        </p:nvSpPr>
        <p:spPr>
          <a:xfrm>
            <a:off x="11384280" y="65288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9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spc="100" kern="0" dirty="0">
                <a:solidFill>
                  <a:srgbClr val="335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 HOUSING &amp; WELLBEING</a:t>
            </a:r>
            <a:endParaRPr lang="en-US" sz="1030" dirty="0"/>
          </a:p>
        </p:txBody>
      </p:sp>
      <p:sp>
        <p:nvSpPr>
          <p:cNvPr id="3" name="Text 1"/>
          <p:cNvSpPr/>
          <p:nvPr/>
        </p:nvSpPr>
        <p:spPr>
          <a:xfrm>
            <a:off x="603504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살 수 있는 도시여야, 머무는 도시가 됩니다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주거 안정과 일상 회복을 함께 지원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466344" y="1901952"/>
            <a:ext cx="4251960" cy="4251960"/>
          </a:xfrm>
          <a:prstGeom prst="ellipse">
            <a:avLst/>
          </a:prstGeom>
          <a:solidFill>
            <a:srgbClr val="FFE4EC"/>
          </a:solidFill>
          <a:ln w="12700">
            <a:solidFill>
              <a:srgbClr val="FFE4E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6152" y="2359152"/>
            <a:ext cx="2871216" cy="2871216"/>
          </a:xfrm>
          <a:prstGeom prst="ellipse">
            <a:avLst/>
          </a:prstGeom>
          <a:solidFill>
            <a:srgbClr val="FFD3E0"/>
          </a:solidFill>
          <a:ln w="12700">
            <a:solidFill>
              <a:srgbClr val="FFD3E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8176" y="2907792"/>
            <a:ext cx="2066544" cy="2066544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7620">
            <a:solidFill>
              <a:srgbClr val="EFC5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6200000">
            <a:off x="1216152" y="2441448"/>
            <a:ext cx="2459736" cy="1051560"/>
          </a:xfrm>
          <a:prstGeom prst="chevron">
            <a:avLst/>
          </a:prstGeom>
          <a:solidFill>
            <a:srgbClr val="F3688D"/>
          </a:solidFill>
          <a:ln w="12700">
            <a:solidFill>
              <a:srgbClr val="F3688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73352" y="3227832"/>
            <a:ext cx="475488" cy="438912"/>
          </a:xfrm>
          <a:prstGeom prst="roundRect">
            <a:avLst>
              <a:gd name="adj" fmla="val 8333"/>
            </a:avLst>
          </a:prstGeom>
          <a:solidFill>
            <a:srgbClr val="DAEBFF"/>
          </a:solidFill>
          <a:ln w="7620">
            <a:solidFill>
              <a:srgbClr val="DAEB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87168" y="3227832"/>
            <a:ext cx="475488" cy="438912"/>
          </a:xfrm>
          <a:prstGeom prst="roundRect">
            <a:avLst>
              <a:gd name="adj" fmla="val 8333"/>
            </a:avLst>
          </a:prstGeom>
          <a:solidFill>
            <a:srgbClr val="DAEBFF"/>
          </a:solidFill>
          <a:ln w="7620">
            <a:solidFill>
              <a:srgbClr val="DAEB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73352" y="3913632"/>
            <a:ext cx="475488" cy="438912"/>
          </a:xfrm>
          <a:prstGeom prst="roundRect">
            <a:avLst>
              <a:gd name="adj" fmla="val 8333"/>
            </a:avLst>
          </a:prstGeom>
          <a:solidFill>
            <a:srgbClr val="DAEBFF"/>
          </a:solidFill>
          <a:ln w="7620">
            <a:solidFill>
              <a:srgbClr val="DAEB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7168" y="3913632"/>
            <a:ext cx="475488" cy="438912"/>
          </a:xfrm>
          <a:prstGeom prst="roundRect">
            <a:avLst>
              <a:gd name="adj" fmla="val 8333"/>
            </a:avLst>
          </a:prstGeom>
          <a:solidFill>
            <a:srgbClr val="DAEBFF"/>
          </a:solidFill>
          <a:ln w="7620">
            <a:solidFill>
              <a:srgbClr val="DAEB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12848" y="4334256"/>
            <a:ext cx="448056" cy="630936"/>
          </a:xfrm>
          <a:prstGeom prst="roundRect">
            <a:avLst>
              <a:gd name="adj" fmla="val 6122"/>
            </a:avLst>
          </a:prstGeom>
          <a:solidFill>
            <a:srgbClr val="F49AB0"/>
          </a:solidFill>
          <a:ln w="7620">
            <a:solidFill>
              <a:srgbClr val="F49AB0">
                <a:alpha val="0"/>
              </a:srgbClr>
            </a:solidFill>
            <a:prstDash val="solid"/>
          </a:ln>
        </p:spPr>
      </p:sp>
      <p:pic>
        <p:nvPicPr>
          <p:cNvPr id="14" name="Image 0" descr="/mnt/data/cheonan_deck/assets/person_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0672" y="3157273"/>
            <a:ext cx="1380744" cy="239054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809744" y="2020824"/>
            <a:ext cx="6693408" cy="1170432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7620">
            <a:solidFill>
              <a:srgbClr val="F5E9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74920" y="2240280"/>
            <a:ext cx="731520" cy="731520"/>
          </a:xfrm>
          <a:prstGeom prst="ellipse">
            <a:avLst/>
          </a:prstGeom>
          <a:solidFill>
            <a:srgbClr val="F3688D"/>
          </a:solidFill>
          <a:ln w="12700">
            <a:solidFill>
              <a:srgbClr val="F3688D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6944" y="2432304"/>
            <a:ext cx="338328" cy="3383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089904" y="2231136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공공주택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6080760" y="2679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신부·쌍용 행복주택 등 공급 확대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809744" y="3374136"/>
            <a:ext cx="6693408" cy="1170432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7620">
            <a:solidFill>
              <a:srgbClr val="F5E9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074920" y="3593592"/>
            <a:ext cx="731520" cy="731520"/>
          </a:xfrm>
          <a:prstGeom prst="ellipse">
            <a:avLst/>
          </a:prstGeom>
          <a:solidFill>
            <a:srgbClr val="335CF4"/>
          </a:solidFill>
          <a:ln w="12700">
            <a:solidFill>
              <a:srgbClr val="335CF4">
                <a:alpha val="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6944" y="3785616"/>
            <a:ext cx="338328" cy="33832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89904" y="3584448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주거비 부담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080760" y="40325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월세·주거급여 지원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4809744" y="4727448"/>
            <a:ext cx="6693408" cy="1170432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7620">
            <a:solidFill>
              <a:srgbClr val="F5E9E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074920" y="4946904"/>
            <a:ext cx="731520" cy="731520"/>
          </a:xfrm>
          <a:prstGeom prst="ellipse">
            <a:avLst/>
          </a:prstGeom>
          <a:solidFill>
            <a:srgbClr val="1DB79D"/>
          </a:solidFill>
          <a:ln w="12700">
            <a:solidFill>
              <a:srgbClr val="1DB79D">
                <a:alpha val="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6944" y="5138928"/>
            <a:ext cx="338328" cy="33832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089904" y="4937760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생활 안전망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6080760" y="53858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1인가구·자립준비·마음돌봄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4974336" y="615391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사업별 선정 기준과 공급 일정은 개별 공고에 따라 다름</a:t>
            </a:r>
            <a:endParaRPr lang="en-US" sz="980" dirty="0"/>
          </a:p>
        </p:txBody>
      </p:sp>
      <p:sp>
        <p:nvSpPr>
          <p:cNvPr id="31" name="Shape 25"/>
          <p:cNvSpPr/>
          <p:nvPr/>
        </p:nvSpPr>
        <p:spPr>
          <a:xfrm>
            <a:off x="530352" y="6519672"/>
            <a:ext cx="11155680" cy="0"/>
          </a:xfrm>
          <a:prstGeom prst="line">
            <a:avLst/>
          </a:prstGeom>
          <a:noFill/>
          <a:ln w="8255">
            <a:solidFill>
              <a:srgbClr val="E7EDF5"/>
            </a:solidFill>
            <a:prstDash val="solid"/>
            <a:headEnd type="none"/>
            <a:tailEnd type="none"/>
          </a:ln>
        </p:spPr>
      </p:sp>
      <p:sp>
        <p:nvSpPr>
          <p:cNvPr id="32" name="Text 26"/>
          <p:cNvSpPr/>
          <p:nvPr/>
        </p:nvSpPr>
        <p:spPr>
          <a:xfrm>
            <a:off x="585216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CHEONAN  |  YOUTH POLICY 2026</a:t>
            </a:r>
            <a:endParaRPr lang="en-US" sz="770" dirty="0"/>
          </a:p>
        </p:txBody>
      </p:sp>
      <p:sp>
        <p:nvSpPr>
          <p:cNvPr id="33" name="Text 27"/>
          <p:cNvSpPr/>
          <p:nvPr/>
        </p:nvSpPr>
        <p:spPr>
          <a:xfrm>
            <a:off x="4572000" y="6547104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자료: 천안시 2026 청년정책 시행계획</a:t>
            </a:r>
            <a:endParaRPr lang="en-US" sz="740" dirty="0"/>
          </a:p>
        </p:txBody>
      </p:sp>
      <p:sp>
        <p:nvSpPr>
          <p:cNvPr id="34" name="Text 28"/>
          <p:cNvSpPr/>
          <p:nvPr/>
        </p:nvSpPr>
        <p:spPr>
          <a:xfrm>
            <a:off x="11384280" y="65288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9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spc="100" kern="0" dirty="0">
                <a:solidFill>
                  <a:srgbClr val="335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 THE YOUTH EXPERIENCE</a:t>
            </a:r>
            <a:endParaRPr lang="en-US" sz="1030" dirty="0"/>
          </a:p>
        </p:txBody>
      </p:sp>
      <p:sp>
        <p:nvSpPr>
          <p:cNvPr id="3" name="Text 1"/>
          <p:cNvSpPr/>
          <p:nvPr/>
        </p:nvSpPr>
        <p:spPr>
          <a:xfrm>
            <a:off x="603504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배움이 경험으로, 경험이 참여로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대학도시의 강점을 청년의 일상과 연결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658368" y="2103120"/>
            <a:ext cx="3593592" cy="3529584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7620">
            <a:solidFill>
              <a:srgbClr val="E7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103120"/>
            <a:ext cx="3593592" cy="109728"/>
          </a:xfrm>
          <a:prstGeom prst="rect">
            <a:avLst/>
          </a:prstGeom>
          <a:solidFill>
            <a:srgbClr val="335CF4"/>
          </a:solidFill>
          <a:ln w="7620">
            <a:solidFill>
              <a:srgbClr val="335CF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2441448"/>
            <a:ext cx="1033272" cy="1033272"/>
          </a:xfrm>
          <a:prstGeom prst="ellipse">
            <a:avLst/>
          </a:prstGeom>
          <a:solidFill>
            <a:srgbClr val="E5ECFF"/>
          </a:solidFill>
          <a:ln w="12700">
            <a:solidFill>
              <a:srgbClr val="E5ECFF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6152" y="2688336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566160" y="24963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5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50976" y="366674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교육 × 산업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50976" y="4270248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지역혁신중심 대학지원체계</a:t>
            </a:r>
            <a:endParaRPr lang="en-US" sz="1260" dirty="0"/>
          </a:p>
        </p:txBody>
      </p:sp>
      <p:sp>
        <p:nvSpPr>
          <p:cNvPr id="12" name="Shape 9"/>
          <p:cNvSpPr/>
          <p:nvPr/>
        </p:nvSpPr>
        <p:spPr>
          <a:xfrm>
            <a:off x="950976" y="4846320"/>
            <a:ext cx="2962656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950976" y="5001768"/>
            <a:ext cx="30723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RISE로 대학·지역산업 연계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4498848" y="2103120"/>
            <a:ext cx="3593592" cy="3529584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7620">
            <a:solidFill>
              <a:srgbClr val="E7ED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98848" y="2103120"/>
            <a:ext cx="3593592" cy="109728"/>
          </a:xfrm>
          <a:prstGeom prst="rect">
            <a:avLst/>
          </a:prstGeom>
          <a:solidFill>
            <a:srgbClr val="F3688D"/>
          </a:solidFill>
          <a:ln w="7620">
            <a:solidFill>
              <a:srgbClr val="F3688D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91456" y="2441448"/>
            <a:ext cx="1033272" cy="1033272"/>
          </a:xfrm>
          <a:prstGeom prst="ellipse">
            <a:avLst/>
          </a:prstGeom>
          <a:solidFill>
            <a:srgbClr val="FFEBF1"/>
          </a:solidFill>
          <a:ln w="12700">
            <a:solidFill>
              <a:srgbClr val="FFEBF1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56632" y="2688336"/>
            <a:ext cx="512064" cy="5120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06640" y="24963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368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791456" y="366674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문화 × 공간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4791456" y="4270248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유니브시티 페스티벌</a:t>
            </a:r>
            <a:endParaRPr lang="en-US" sz="1260" dirty="0"/>
          </a:p>
        </p:txBody>
      </p:sp>
      <p:sp>
        <p:nvSpPr>
          <p:cNvPr id="21" name="Shape 17"/>
          <p:cNvSpPr/>
          <p:nvPr/>
        </p:nvSpPr>
        <p:spPr>
          <a:xfrm>
            <a:off x="4791456" y="4846320"/>
            <a:ext cx="2962656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  <a:headEnd type="none"/>
            <a:tailEnd type="none"/>
          </a:ln>
        </p:spPr>
      </p:sp>
      <p:sp>
        <p:nvSpPr>
          <p:cNvPr id="22" name="Text 18"/>
          <p:cNvSpPr/>
          <p:nvPr/>
        </p:nvSpPr>
        <p:spPr>
          <a:xfrm>
            <a:off x="4791456" y="5001768"/>
            <a:ext cx="30723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대학로 청년문화예술 활성화</a:t>
            </a:r>
            <a:endParaRPr lang="en-US" sz="1120" dirty="0"/>
          </a:p>
        </p:txBody>
      </p:sp>
      <p:sp>
        <p:nvSpPr>
          <p:cNvPr id="23" name="Shape 19"/>
          <p:cNvSpPr/>
          <p:nvPr/>
        </p:nvSpPr>
        <p:spPr>
          <a:xfrm>
            <a:off x="8339328" y="2103120"/>
            <a:ext cx="3593592" cy="3529584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7620">
            <a:solidFill>
              <a:srgbClr val="E7EDF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339328" y="2103120"/>
            <a:ext cx="3593592" cy="109728"/>
          </a:xfrm>
          <a:prstGeom prst="rect">
            <a:avLst/>
          </a:prstGeom>
          <a:solidFill>
            <a:srgbClr val="1DB79D"/>
          </a:solidFill>
          <a:ln w="7620">
            <a:solidFill>
              <a:srgbClr val="1DB79D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631936" y="2441448"/>
            <a:ext cx="1033272" cy="1033272"/>
          </a:xfrm>
          <a:prstGeom prst="ellipse">
            <a:avLst/>
          </a:prstGeom>
          <a:solidFill>
            <a:srgbClr val="DCF8F1"/>
          </a:solidFill>
          <a:ln w="12700">
            <a:solidFill>
              <a:srgbClr val="DCF8F1">
                <a:alpha val="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7112" y="2688336"/>
            <a:ext cx="512064" cy="51206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247120" y="24963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B79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8631936" y="366674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참여 × 권리</a:t>
            </a:r>
            <a:endParaRPr lang="en-US" sz="2100" dirty="0"/>
          </a:p>
        </p:txBody>
      </p:sp>
      <p:sp>
        <p:nvSpPr>
          <p:cNvPr id="29" name="Text 24"/>
          <p:cNvSpPr/>
          <p:nvPr/>
        </p:nvSpPr>
        <p:spPr>
          <a:xfrm>
            <a:off x="8631936" y="4270248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천안형 청년도전 프로젝트</a:t>
            </a:r>
            <a:endParaRPr lang="en-US" sz="1260" dirty="0"/>
          </a:p>
        </p:txBody>
      </p:sp>
      <p:sp>
        <p:nvSpPr>
          <p:cNvPr id="30" name="Shape 25"/>
          <p:cNvSpPr/>
          <p:nvPr/>
        </p:nvSpPr>
        <p:spPr>
          <a:xfrm>
            <a:off x="8631936" y="4846320"/>
            <a:ext cx="2962656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  <a:headEnd type="none"/>
            <a:tailEnd type="none"/>
          </a:ln>
        </p:spPr>
      </p:sp>
      <p:sp>
        <p:nvSpPr>
          <p:cNvPr id="31" name="Text 26"/>
          <p:cNvSpPr/>
          <p:nvPr/>
        </p:nvSpPr>
        <p:spPr>
          <a:xfrm>
            <a:off x="8631936" y="5001768"/>
            <a:ext cx="30723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청년 아이디어 제안·실행</a:t>
            </a:r>
            <a:endParaRPr lang="en-US" sz="1120" dirty="0"/>
          </a:p>
        </p:txBody>
      </p:sp>
      <p:sp>
        <p:nvSpPr>
          <p:cNvPr id="32" name="Shape 27"/>
          <p:cNvSpPr/>
          <p:nvPr/>
        </p:nvSpPr>
        <p:spPr>
          <a:xfrm>
            <a:off x="1874520" y="5870448"/>
            <a:ext cx="8421624" cy="274320"/>
          </a:xfrm>
          <a:prstGeom prst="roundRect">
            <a:avLst>
              <a:gd name="adj" fmla="val 50000"/>
            </a:avLst>
          </a:prstGeom>
          <a:solidFill>
            <a:srgbClr val="E4EAFE"/>
          </a:solidFill>
          <a:ln w="7620">
            <a:solidFill>
              <a:srgbClr val="E4EAFE">
                <a:alpha val="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286000" y="5879592"/>
            <a:ext cx="7562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5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배우고   →   연결되고   →   함께 바꾸는 청년정책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530352" y="6519672"/>
            <a:ext cx="11155680" cy="0"/>
          </a:xfrm>
          <a:prstGeom prst="line">
            <a:avLst/>
          </a:prstGeom>
          <a:noFill/>
          <a:ln w="8255">
            <a:solidFill>
              <a:srgbClr val="E7EDF5"/>
            </a:solidFill>
            <a:prstDash val="solid"/>
            <a:headEnd type="none"/>
            <a:tailEnd type="none"/>
          </a:ln>
        </p:spPr>
      </p:sp>
      <p:sp>
        <p:nvSpPr>
          <p:cNvPr id="35" name="Text 30"/>
          <p:cNvSpPr/>
          <p:nvPr/>
        </p:nvSpPr>
        <p:spPr>
          <a:xfrm>
            <a:off x="585216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CHEONAN  |  YOUTH POLICY 2026</a:t>
            </a:r>
            <a:endParaRPr lang="en-US" sz="770" dirty="0"/>
          </a:p>
        </p:txBody>
      </p:sp>
      <p:sp>
        <p:nvSpPr>
          <p:cNvPr id="36" name="Text 31"/>
          <p:cNvSpPr/>
          <p:nvPr/>
        </p:nvSpPr>
        <p:spPr>
          <a:xfrm>
            <a:off x="4572000" y="6547104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자료: 2026년 천안시 청년정책 시행계획</a:t>
            </a:r>
            <a:endParaRPr lang="en-US" sz="740" dirty="0"/>
          </a:p>
        </p:txBody>
      </p:sp>
      <p:sp>
        <p:nvSpPr>
          <p:cNvPr id="37" name="Text 32"/>
          <p:cNvSpPr/>
          <p:nvPr/>
        </p:nvSpPr>
        <p:spPr>
          <a:xfrm>
            <a:off x="11384280" y="65288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31"/>
          </a:solidFill>
          <a:ln w="7620">
            <a:solidFill>
              <a:srgbClr val="0C17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6576"/>
            <a:ext cx="2633472" cy="2633472"/>
          </a:xfrm>
          <a:prstGeom prst="ellipse">
            <a:avLst/>
          </a:prstGeom>
          <a:solidFill>
            <a:srgbClr val="24457A">
              <a:alpha val="65000"/>
            </a:srgbClr>
          </a:solidFill>
          <a:ln w="12700">
            <a:solidFill>
              <a:srgbClr val="2445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329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spc="100" kern="0" dirty="0">
                <a:solidFill>
                  <a:srgbClr val="9FB7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  VERIFIED OUTCOMES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603504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성과는 확인된 숫자로 말합니다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CAD8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청년도전지원사업  |  취·창업 전환 및 참여 현황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630936" y="2084832"/>
            <a:ext cx="3657600" cy="3529584"/>
          </a:xfrm>
          <a:prstGeom prst="roundRect">
            <a:avLst>
              <a:gd name="adj" fmla="val 6218"/>
            </a:avLst>
          </a:prstGeom>
          <a:solidFill>
            <a:srgbClr val="1F3153"/>
          </a:solidFill>
          <a:ln w="7620">
            <a:solidFill>
              <a:srgbClr val="1F315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957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4E1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누적 취·창업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2916936"/>
            <a:ext cx="3136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0" b="1" dirty="0">
                <a:solidFill>
                  <a:srgbClr val="8EE4D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153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3419856" y="3429000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50976" y="41330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D5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2021년~2025년 8월말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0976" y="4882896"/>
            <a:ext cx="603504" cy="60350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507992" y="2084832"/>
            <a:ext cx="3044952" cy="3529584"/>
          </a:xfrm>
          <a:prstGeom prst="roundRect">
            <a:avLst>
              <a:gd name="adj" fmla="val 7207"/>
            </a:avLst>
          </a:prstGeom>
          <a:solidFill>
            <a:srgbClr val="1F3153"/>
          </a:solidFill>
          <a:ln w="7620">
            <a:solidFill>
              <a:srgbClr val="1F315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23957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4E1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2025년 취업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773168" y="3108960"/>
            <a:ext cx="25603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00" b="1" dirty="0">
                <a:solidFill>
                  <a:srgbClr val="FFB1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5300" dirty="0"/>
          </a:p>
        </p:txBody>
      </p:sp>
      <p:sp>
        <p:nvSpPr>
          <p:cNvPr id="16" name="Text 13"/>
          <p:cNvSpPr/>
          <p:nvPr/>
        </p:nvSpPr>
        <p:spPr>
          <a:xfrm>
            <a:off x="6419088" y="3493008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800600" y="41330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D5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당해연도 1~8월</a:t>
            </a:r>
            <a:endParaRPr lang="en-US" sz="1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5464" y="4892040"/>
            <a:ext cx="576072" cy="57607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799832" y="2084832"/>
            <a:ext cx="3758184" cy="3529584"/>
          </a:xfrm>
          <a:prstGeom prst="roundRect">
            <a:avLst>
              <a:gd name="adj" fmla="val 6218"/>
            </a:avLst>
          </a:prstGeom>
          <a:solidFill>
            <a:srgbClr val="1F3153"/>
          </a:solidFill>
          <a:ln w="7620">
            <a:solidFill>
              <a:srgbClr val="1F3153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065008" y="2395728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4E1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2025년 참여 현황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8074152" y="2916936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211명</a:t>
            </a:r>
            <a:endParaRPr lang="en-US" sz="3500" dirty="0"/>
          </a:p>
        </p:txBody>
      </p:sp>
      <p:sp>
        <p:nvSpPr>
          <p:cNvPr id="22" name="Text 18"/>
          <p:cNvSpPr/>
          <p:nvPr/>
        </p:nvSpPr>
        <p:spPr>
          <a:xfrm>
            <a:off x="8101584" y="3657600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3DD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8월말 기준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092440" y="4178808"/>
            <a:ext cx="3163824" cy="237744"/>
          </a:xfrm>
          <a:prstGeom prst="roundRect">
            <a:avLst>
              <a:gd name="adj" fmla="val 38462"/>
            </a:avLst>
          </a:prstGeom>
          <a:solidFill>
            <a:srgbClr val="435575"/>
          </a:solidFill>
          <a:ln w="7620">
            <a:solidFill>
              <a:srgbClr val="435575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092440" y="4178808"/>
            <a:ext cx="1619398" cy="237744"/>
          </a:xfrm>
          <a:prstGeom prst="roundRect">
            <a:avLst>
              <a:gd name="adj" fmla="val 38462"/>
            </a:avLst>
          </a:prstGeom>
          <a:solidFill>
            <a:srgbClr val="1DB79D"/>
          </a:solidFill>
          <a:ln w="7620">
            <a:solidFill>
              <a:srgbClr val="1DB79D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711838" y="4178808"/>
            <a:ext cx="1544426" cy="237744"/>
          </a:xfrm>
          <a:prstGeom prst="roundRect">
            <a:avLst>
              <a:gd name="adj" fmla="val 38462"/>
            </a:avLst>
          </a:prstGeom>
          <a:solidFill>
            <a:srgbClr val="F3688D"/>
          </a:solidFill>
          <a:ln w="7620">
            <a:solidFill>
              <a:srgbClr val="F3688D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083296" y="4773168"/>
            <a:ext cx="137160" cy="137160"/>
          </a:xfrm>
          <a:prstGeom prst="ellipse">
            <a:avLst/>
          </a:prstGeom>
          <a:solidFill>
            <a:srgbClr val="1DB79D"/>
          </a:solidFill>
          <a:ln w="12700">
            <a:solidFill>
              <a:srgbClr val="1DB79D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330184" y="473659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수료 108명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9729216" y="4773168"/>
            <a:ext cx="137160" cy="137160"/>
          </a:xfrm>
          <a:prstGeom prst="ellipse">
            <a:avLst/>
          </a:prstGeom>
          <a:solidFill>
            <a:srgbClr val="F3688D"/>
          </a:solidFill>
          <a:ln w="12700">
            <a:solidFill>
              <a:srgbClr val="F3688D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957816" y="473659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참여 중 103명</a:t>
            </a:r>
            <a:endParaRPr lang="en-US" sz="1090" dirty="0"/>
          </a:p>
        </p:txBody>
      </p:sp>
      <p:sp>
        <p:nvSpPr>
          <p:cNvPr id="30" name="Text 26"/>
          <p:cNvSpPr/>
          <p:nvPr/>
        </p:nvSpPr>
        <p:spPr>
          <a:xfrm>
            <a:off x="694944" y="600760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1CE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153명은 2021~2025.08 누적 취·창업, 22명은 2025년 1~8월 취업 실적</a:t>
            </a:r>
            <a:endParaRPr lang="en-US" sz="1020" dirty="0"/>
          </a:p>
        </p:txBody>
      </p:sp>
      <p:sp>
        <p:nvSpPr>
          <p:cNvPr id="31" name="Shape 27"/>
          <p:cNvSpPr/>
          <p:nvPr/>
        </p:nvSpPr>
        <p:spPr>
          <a:xfrm>
            <a:off x="530352" y="6519672"/>
            <a:ext cx="11155680" cy="0"/>
          </a:xfrm>
          <a:prstGeom prst="line">
            <a:avLst/>
          </a:prstGeom>
          <a:noFill/>
          <a:ln w="8255">
            <a:solidFill>
              <a:srgbClr val="40506B"/>
            </a:solidFill>
            <a:prstDash val="solid"/>
            <a:headEnd type="none"/>
            <a:tailEnd type="none"/>
          </a:ln>
        </p:spPr>
      </p:sp>
      <p:sp>
        <p:nvSpPr>
          <p:cNvPr id="32" name="Text 28"/>
          <p:cNvSpPr/>
          <p:nvPr/>
        </p:nvSpPr>
        <p:spPr>
          <a:xfrm>
            <a:off x="585216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BECDE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CHEONAN  |  YOUTH POLICY 2026</a:t>
            </a:r>
            <a:endParaRPr lang="en-US" sz="770" dirty="0"/>
          </a:p>
        </p:txBody>
      </p:sp>
      <p:sp>
        <p:nvSpPr>
          <p:cNvPr id="33" name="Text 29"/>
          <p:cNvSpPr/>
          <p:nvPr/>
        </p:nvSpPr>
        <p:spPr>
          <a:xfrm>
            <a:off x="4572000" y="6547104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BECDE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자료: 뉴시스(2025.09.05, 천안시 발표 인용)</a:t>
            </a:r>
            <a:endParaRPr lang="en-US" sz="740" dirty="0"/>
          </a:p>
        </p:txBody>
      </p:sp>
      <p:sp>
        <p:nvSpPr>
          <p:cNvPr id="34" name="Text 30"/>
          <p:cNvSpPr/>
          <p:nvPr/>
        </p:nvSpPr>
        <p:spPr>
          <a:xfrm>
            <a:off x="11384280" y="65288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BECDE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9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spc="100" kern="0" dirty="0">
                <a:solidFill>
                  <a:srgbClr val="335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  FUTURE DIRECTIONS</a:t>
            </a:r>
            <a:endParaRPr lang="en-US" sz="1030" dirty="0"/>
          </a:p>
        </p:txBody>
      </p:sp>
      <p:sp>
        <p:nvSpPr>
          <p:cNvPr id="3" name="Text 1"/>
          <p:cNvSpPr/>
          <p:nvPr/>
        </p:nvSpPr>
        <p:spPr>
          <a:xfrm>
            <a:off x="603504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단계는 ‘연결’입니다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 제안  |  확정된 천안시 신규 사업이 아닌 개선 방향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667512" y="2130552"/>
            <a:ext cx="3547872" cy="3355848"/>
          </a:xfrm>
          <a:prstGeom prst="roundRect">
            <a:avLst>
              <a:gd name="adj" fmla="val 7629"/>
            </a:avLst>
          </a:prstGeom>
          <a:solidFill>
            <a:srgbClr val="E7EFFF"/>
          </a:solidFill>
          <a:ln w="7620">
            <a:solidFill>
              <a:srgbClr val="E7E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323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35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5264" y="2386584"/>
            <a:ext cx="630936" cy="6309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26440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일자리 ↔ 주거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0120" y="3803904"/>
            <a:ext cx="2907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5C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지원의 연결성 강화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69264" y="4389120"/>
            <a:ext cx="2871216" cy="0"/>
          </a:xfrm>
          <a:prstGeom prst="line">
            <a:avLst/>
          </a:prstGeom>
          <a:noFill/>
          <a:ln w="12700">
            <a:solidFill>
              <a:srgbClr val="CAD5E5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960120" y="4626864"/>
            <a:ext cx="2880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채용·취업 상담 시 주거 수요를 함께 파악</a:t>
            </a:r>
            <a:endParaRPr lang="en-US" sz="122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9936" y="3547872"/>
            <a:ext cx="484632" cy="4846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44568" y="2130552"/>
            <a:ext cx="3547872" cy="3355848"/>
          </a:xfrm>
          <a:prstGeom prst="roundRect">
            <a:avLst>
              <a:gd name="adj" fmla="val 7629"/>
            </a:avLst>
          </a:prstGeom>
          <a:solidFill>
            <a:srgbClr val="FFECF1"/>
          </a:solidFill>
          <a:ln w="7620">
            <a:solidFill>
              <a:srgbClr val="FFECF1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37176" y="24323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368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2320" y="2386584"/>
            <a:ext cx="630936" cy="6309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37176" y="326440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 접근성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4837176" y="3803904"/>
            <a:ext cx="2907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68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하나의 안내 경로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846320" y="4389120"/>
            <a:ext cx="2871216" cy="0"/>
          </a:xfrm>
          <a:prstGeom prst="line">
            <a:avLst/>
          </a:prstGeom>
          <a:noFill/>
          <a:ln w="12700">
            <a:solidFill>
              <a:srgbClr val="CAD5E5"/>
            </a:solidFill>
            <a:prstDash val="solid"/>
            <a:headEnd type="none"/>
            <a:tailEnd type="none"/>
          </a:ln>
        </p:spPr>
      </p:sp>
      <p:sp>
        <p:nvSpPr>
          <p:cNvPr id="19" name="Text 14"/>
          <p:cNvSpPr/>
          <p:nvPr/>
        </p:nvSpPr>
        <p:spPr>
          <a:xfrm>
            <a:off x="4837176" y="4626864"/>
            <a:ext cx="2880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공고·접수·상담 정보를 한눈에 연결</a:t>
            </a:r>
            <a:endParaRPr lang="en-US" sz="122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6992" y="3547872"/>
            <a:ext cx="484632" cy="48463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421624" y="2130552"/>
            <a:ext cx="3547872" cy="3355848"/>
          </a:xfrm>
          <a:prstGeom prst="roundRect">
            <a:avLst>
              <a:gd name="adj" fmla="val 7629"/>
            </a:avLst>
          </a:prstGeom>
          <a:solidFill>
            <a:srgbClr val="E1F7F0"/>
          </a:solidFill>
          <a:ln w="7620">
            <a:solidFill>
              <a:srgbClr val="E1F7F0">
                <a:alpha val="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714232" y="24323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DB79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09376" y="2386584"/>
            <a:ext cx="630936" cy="6309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714232" y="326440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4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성과 관리</a:t>
            </a:r>
            <a:endParaRPr lang="en-US" sz="2200" dirty="0"/>
          </a:p>
        </p:txBody>
      </p:sp>
      <p:sp>
        <p:nvSpPr>
          <p:cNvPr id="25" name="Text 18"/>
          <p:cNvSpPr/>
          <p:nvPr/>
        </p:nvSpPr>
        <p:spPr>
          <a:xfrm>
            <a:off x="8714232" y="3803904"/>
            <a:ext cx="2907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B79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청년 관점 지표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8723376" y="4389120"/>
            <a:ext cx="2871216" cy="0"/>
          </a:xfrm>
          <a:prstGeom prst="line">
            <a:avLst/>
          </a:prstGeom>
          <a:noFill/>
          <a:ln w="12700">
            <a:solidFill>
              <a:srgbClr val="CAD5E5"/>
            </a:solidFill>
            <a:prstDash val="solid"/>
            <a:headEnd type="none"/>
            <a:tailEnd type="none"/>
          </a:ln>
        </p:spPr>
      </p:sp>
      <p:sp>
        <p:nvSpPr>
          <p:cNvPr id="27" name="Text 20"/>
          <p:cNvSpPr/>
          <p:nvPr/>
        </p:nvSpPr>
        <p:spPr>
          <a:xfrm>
            <a:off x="8714232" y="4626864"/>
            <a:ext cx="2880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566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단순 참여를 넘어 정착·지속 효과 측정</a:t>
            </a:r>
            <a:endParaRPr lang="en-US" sz="1220" dirty="0"/>
          </a:p>
        </p:txBody>
      </p:sp>
      <p:sp>
        <p:nvSpPr>
          <p:cNvPr id="28" name="Shape 21"/>
          <p:cNvSpPr/>
          <p:nvPr/>
        </p:nvSpPr>
        <p:spPr>
          <a:xfrm>
            <a:off x="685800" y="5797296"/>
            <a:ext cx="10789920" cy="448056"/>
          </a:xfrm>
          <a:prstGeom prst="roundRect">
            <a:avLst>
              <a:gd name="adj" fmla="val 30612"/>
            </a:avLst>
          </a:prstGeom>
          <a:solidFill>
            <a:srgbClr val="F2F5FA"/>
          </a:solidFill>
          <a:ln w="7620">
            <a:solidFill>
              <a:srgbClr val="F2F5FA">
                <a:alpha val="0"/>
              </a:srgbClr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68680" y="5888736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220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방향성: 정책의 개수보다 청년의 실제 전환 경험과 체감도를 높이는 설계</a:t>
            </a:r>
            <a:endParaRPr lang="en-US" sz="1230" dirty="0"/>
          </a:p>
        </p:txBody>
      </p:sp>
      <p:sp>
        <p:nvSpPr>
          <p:cNvPr id="30" name="Shape 23"/>
          <p:cNvSpPr/>
          <p:nvPr/>
        </p:nvSpPr>
        <p:spPr>
          <a:xfrm>
            <a:off x="530352" y="6519672"/>
            <a:ext cx="11155680" cy="0"/>
          </a:xfrm>
          <a:prstGeom prst="line">
            <a:avLst/>
          </a:prstGeom>
          <a:noFill/>
          <a:ln w="8255">
            <a:solidFill>
              <a:srgbClr val="E7EDF5"/>
            </a:solidFill>
            <a:prstDash val="solid"/>
            <a:headEnd type="none"/>
            <a:tailEnd type="none"/>
          </a:ln>
        </p:spPr>
      </p:sp>
      <p:sp>
        <p:nvSpPr>
          <p:cNvPr id="31" name="Text 24"/>
          <p:cNvSpPr/>
          <p:nvPr/>
        </p:nvSpPr>
        <p:spPr>
          <a:xfrm>
            <a:off x="585216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CHEONAN  |  YOUTH POLICY 2026</a:t>
            </a:r>
            <a:endParaRPr lang="en-US" sz="770" dirty="0"/>
          </a:p>
        </p:txBody>
      </p:sp>
      <p:sp>
        <p:nvSpPr>
          <p:cNvPr id="32" name="Text 25"/>
          <p:cNvSpPr/>
          <p:nvPr/>
        </p:nvSpPr>
        <p:spPr>
          <a:xfrm>
            <a:off x="4572000" y="6547104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참고: 천안시의회 시정질문(2026.10.26) · 제안</a:t>
            </a:r>
            <a:endParaRPr lang="en-US" sz="740" dirty="0"/>
          </a:p>
        </p:txBody>
      </p:sp>
      <p:sp>
        <p:nvSpPr>
          <p:cNvPr id="33" name="Text 26"/>
          <p:cNvSpPr/>
          <p:nvPr/>
        </p:nvSpPr>
        <p:spPr>
          <a:xfrm>
            <a:off x="11384280" y="65288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8191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03E"/>
          </a:solidFill>
          <a:ln w="7620">
            <a:solidFill>
              <a:srgbClr val="12203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16952" y="310896"/>
            <a:ext cx="4416552" cy="4416552"/>
          </a:xfrm>
          <a:prstGeom prst="ellipse">
            <a:avLst/>
          </a:prstGeom>
          <a:solidFill>
            <a:srgbClr val="2D4A8C">
              <a:alpha val="73000"/>
            </a:srgbClr>
          </a:solidFill>
          <a:ln w="12700">
            <a:solidFill>
              <a:srgbClr val="2D4A8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05088" y="1133856"/>
            <a:ext cx="3383280" cy="3383280"/>
          </a:xfrm>
          <a:prstGeom prst="ellipse">
            <a:avLst/>
          </a:prstGeom>
          <a:solidFill>
            <a:srgbClr val="F3688D">
              <a:alpha val="90000"/>
            </a:srgbClr>
          </a:solidFill>
          <a:ln w="12700">
            <a:solidFill>
              <a:srgbClr val="F3688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623560"/>
            <a:ext cx="12192000" cy="1234440"/>
          </a:xfrm>
          <a:prstGeom prst="rect">
            <a:avLst/>
          </a:prstGeom>
          <a:solidFill>
            <a:srgbClr val="0E1931"/>
          </a:solidFill>
          <a:ln w="7620">
            <a:solidFill>
              <a:srgbClr val="0E193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8521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4D5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CHEONAN  ×  YOUTH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527048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청년의 오늘이,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58368" y="2441448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천안의 내일을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58368" y="3355848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9DF0D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만듭니다.</a:t>
            </a:r>
            <a:endParaRPr lang="en-US" sz="4100" dirty="0"/>
          </a:p>
        </p:txBody>
      </p:sp>
      <p:sp>
        <p:nvSpPr>
          <p:cNvPr id="10" name="Shape 8"/>
          <p:cNvSpPr/>
          <p:nvPr/>
        </p:nvSpPr>
        <p:spPr>
          <a:xfrm>
            <a:off x="704088" y="4681728"/>
            <a:ext cx="4809744" cy="548640"/>
          </a:xfrm>
          <a:prstGeom prst="roundRect">
            <a:avLst>
              <a:gd name="adj" fmla="val 30000"/>
            </a:avLst>
          </a:prstGeom>
          <a:solidFill>
            <a:srgbClr val="2A4274"/>
          </a:solidFill>
          <a:ln w="7620">
            <a:solidFill>
              <a:srgbClr val="2A427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4800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기회  ·  성장  ·  자립  ·  정착  ·  참여</a:t>
            </a:r>
            <a:endParaRPr lang="en-US" sz="1400" dirty="0"/>
          </a:p>
        </p:txBody>
      </p:sp>
      <p:pic>
        <p:nvPicPr>
          <p:cNvPr id="12" name="Image 0" descr="/mnt/data/cheonan_deck/assets/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447038"/>
            <a:ext cx="4443984" cy="33329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59436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DD9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천안시 청년정책 브리핑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741664" y="5961888"/>
            <a:ext cx="2724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40" dirty="0">
                <a:solidFill>
                  <a:srgbClr val="B6C7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 확인 기준: 2026.10.30</a:t>
            </a:r>
            <a:endParaRPr lang="en-US" sz="10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첨단교육팀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천안시 청년정책 2026</dc:title>
  <dc:subject>2026 천안시 청년정책: 통계, 지원사업, 성과와 발전 방향</dc:subject>
  <dc:creator>OpenAI</dc:creator>
  <cp:lastModifiedBy>OpenAI</cp:lastModifiedBy>
  <cp:revision>1</cp:revision>
  <dcterms:created xsi:type="dcterms:W3CDTF">2026-10-30T05:52:14Z</dcterms:created>
  <dcterms:modified xsi:type="dcterms:W3CDTF">2026-10-30T05:52:14Z</dcterms:modified>
</cp:coreProperties>
</file>